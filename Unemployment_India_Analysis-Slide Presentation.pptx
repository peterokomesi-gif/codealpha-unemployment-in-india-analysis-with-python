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Unemployment Rate (%)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May-19</c:v>
                </c:pt>
                <c:pt idx="1">
                  <c:v>Jun-19</c:v>
                </c:pt>
                <c:pt idx="2">
                  <c:v>Jul-19</c:v>
                </c:pt>
                <c:pt idx="3">
                  <c:v>Aug-19</c:v>
                </c:pt>
                <c:pt idx="4">
                  <c:v>Sep-19</c:v>
                </c:pt>
                <c:pt idx="5">
                  <c:v>Oct-19</c:v>
                </c:pt>
                <c:pt idx="6">
                  <c:v>Nov-19</c:v>
                </c:pt>
                <c:pt idx="7">
                  <c:v>Dec-19</c:v>
                </c:pt>
                <c:pt idx="8">
                  <c:v>Jan-20</c:v>
                </c:pt>
                <c:pt idx="9">
                  <c:v>Feb-20</c:v>
                </c:pt>
                <c:pt idx="10">
                  <c:v>Mar-20</c:v>
                </c:pt>
                <c:pt idx="11">
                  <c:v>Apr-20</c:v>
                </c:pt>
                <c:pt idx="12">
                  <c:v>May-20</c:v>
                </c:pt>
                <c:pt idx="13">
                  <c:v>Jun-20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8.8699999999999992</c:v>
                </c:pt>
                <c:pt idx="1">
                  <c:v>9.3000000000000007</c:v>
                </c:pt>
                <c:pt idx="2">
                  <c:v>9.0299999999999994</c:v>
                </c:pt>
                <c:pt idx="3">
                  <c:v>9.64</c:v>
                </c:pt>
                <c:pt idx="4">
                  <c:v>9.0500000000000007</c:v>
                </c:pt>
                <c:pt idx="5">
                  <c:v>9.9</c:v>
                </c:pt>
                <c:pt idx="6">
                  <c:v>9.8699999999999992</c:v>
                </c:pt>
                <c:pt idx="7">
                  <c:v>9.5</c:v>
                </c:pt>
                <c:pt idx="8">
                  <c:v>9.9499999999999993</c:v>
                </c:pt>
                <c:pt idx="9">
                  <c:v>9.9600000000000009</c:v>
                </c:pt>
                <c:pt idx="10">
                  <c:v>10.7</c:v>
                </c:pt>
                <c:pt idx="11">
                  <c:v>23.64</c:v>
                </c:pt>
                <c:pt idx="12">
                  <c:v>24.88</c:v>
                </c:pt>
                <c:pt idx="13">
                  <c:v>11.9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4B-49FE-9344-950D73113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Unemployment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DA-4DB8-95C2-5B6FDDDFFF1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CDA-4DB8-95C2-5B6FDDDFFF10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DA-4DB8-95C2-5B6FDDDFFF10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DA-4DB8-95C2-5B6FDDDFFF10}"/>
              </c:ext>
            </c:extLst>
          </c:dPt>
          <c:dPt>
            <c:idx val="4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DA-4DB8-95C2-5B6FDDDFFF10}"/>
              </c:ext>
            </c:extLst>
          </c:dPt>
          <c:dPt>
            <c:idx val="5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CDA-4DB8-95C2-5B6FDDDFFF10}"/>
              </c:ext>
            </c:extLst>
          </c:dPt>
          <c:dPt>
            <c:idx val="6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CDA-4DB8-95C2-5B6FDDDFFF10}"/>
              </c:ext>
            </c:extLst>
          </c:dPt>
          <c:dPt>
            <c:idx val="7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CDA-4DB8-95C2-5B6FDDDFFF10}"/>
              </c:ext>
            </c:extLst>
          </c:dPt>
          <c:dPt>
            <c:idx val="8"/>
            <c:invertIfNegative val="0"/>
            <c:bubble3D val="0"/>
            <c:spPr>
              <a:solidFill>
                <a:srgbClr val="CCFB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CDA-4DB8-95C2-5B6FDDDFFF10}"/>
              </c:ext>
            </c:extLst>
          </c:dPt>
          <c:dPt>
            <c:idx val="9"/>
            <c:invertIfNegative val="0"/>
            <c:bubble3D val="0"/>
            <c:spPr>
              <a:solidFill>
                <a:srgbClr val="CCFB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CDA-4DB8-95C2-5B6FDDDFFF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Tripura</c:v>
                </c:pt>
                <c:pt idx="1">
                  <c:v>Haryana</c:v>
                </c:pt>
                <c:pt idx="2">
                  <c:v>Jharkhand</c:v>
                </c:pt>
                <c:pt idx="3">
                  <c:v>Bihar</c:v>
                </c:pt>
                <c:pt idx="4">
                  <c:v>Himachal Pradesh</c:v>
                </c:pt>
                <c:pt idx="5">
                  <c:v>Delhi</c:v>
                </c:pt>
                <c:pt idx="6">
                  <c:v>Jammu &amp; Kashmir</c:v>
                </c:pt>
                <c:pt idx="7">
                  <c:v>Rajasthan</c:v>
                </c:pt>
                <c:pt idx="8">
                  <c:v>Uttar Pradesh</c:v>
                </c:pt>
                <c:pt idx="9">
                  <c:v>Punjab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28.35</c:v>
                </c:pt>
                <c:pt idx="1">
                  <c:v>26.28</c:v>
                </c:pt>
                <c:pt idx="2">
                  <c:v>20.58</c:v>
                </c:pt>
                <c:pt idx="3">
                  <c:v>18.920000000000002</c:v>
                </c:pt>
                <c:pt idx="4">
                  <c:v>18.54</c:v>
                </c:pt>
                <c:pt idx="5">
                  <c:v>16.5</c:v>
                </c:pt>
                <c:pt idx="6">
                  <c:v>16.190000000000001</c:v>
                </c:pt>
                <c:pt idx="7">
                  <c:v>14.06</c:v>
                </c:pt>
                <c:pt idx="8">
                  <c:v>12.55</c:v>
                </c:pt>
                <c:pt idx="9">
                  <c:v>12.03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CDA-4DB8-95C2-5B6FDDDFFF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DF-4F67-9BEC-536CA6A426D3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DF-4F67-9BEC-536CA6A426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DF-4F67-9BEC-536CA6A426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DF-4F67-9BEC-536CA6A426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GH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Urban (13.17%)</c:v>
                </c:pt>
                <c:pt idx="1">
                  <c:v>Rural (10.32%)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13.17</c:v>
                </c:pt>
                <c:pt idx="1">
                  <c:v>10.32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DF-4F67-9BEC-536CA6A426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Unemployment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81-452C-99D8-DA593DFDBBDD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81-452C-99D8-DA593DFDBBDD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81-452C-99D8-DA593DFDBB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Pre-COVID
(May'19-Feb'20)</c:v>
                </c:pt>
                <c:pt idx="1">
                  <c:v>Lockdown
(Mar-Jun 2020)</c:v>
                </c:pt>
                <c:pt idx="2">
                  <c:v>Peak Month
(May 2020)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9.51</c:v>
                </c:pt>
                <c:pt idx="1">
                  <c:v>17.77</c:v>
                </c:pt>
                <c:pt idx="2">
                  <c:v>24.88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81-452C-99D8-DA593DFDBB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Unemployment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3C-4E65-AA02-AE212617BBAD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3C-4E65-AA02-AE212617BBAD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3C-4E65-AA02-AE212617BBAD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3C-4E65-AA02-AE212617BBAD}"/>
              </c:ext>
            </c:extLst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3C-4E65-AA02-AE212617BBAD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3C-4E65-AA02-AE212617BBAD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E3C-4E65-AA02-AE212617BBAD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E3C-4E65-AA02-AE212617BBAD}"/>
              </c:ext>
            </c:extLst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E3C-4E65-AA02-AE212617BBAD}"/>
              </c:ext>
            </c:extLst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E3C-4E65-AA02-AE212617BBAD}"/>
              </c:ext>
            </c:extLst>
          </c:dPt>
          <c:dPt>
            <c:idx val="1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E3C-4E65-AA02-AE212617BBAD}"/>
              </c:ext>
            </c:extLst>
          </c:dPt>
          <c:dPt>
            <c:idx val="1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E3C-4E65-AA02-AE212617BBA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9.9499999999999993</c:v>
                </c:pt>
                <c:pt idx="1">
                  <c:v>9.9600000000000009</c:v>
                </c:pt>
                <c:pt idx="2">
                  <c:v>10.7</c:v>
                </c:pt>
                <c:pt idx="3">
                  <c:v>23.64</c:v>
                </c:pt>
                <c:pt idx="4">
                  <c:v>16.649999999999999</c:v>
                </c:pt>
                <c:pt idx="5">
                  <c:v>10.55</c:v>
                </c:pt>
                <c:pt idx="6">
                  <c:v>9.0299999999999994</c:v>
                </c:pt>
                <c:pt idx="7">
                  <c:v>9.64</c:v>
                </c:pt>
                <c:pt idx="8">
                  <c:v>9.0500000000000007</c:v>
                </c:pt>
                <c:pt idx="9">
                  <c:v>9.9</c:v>
                </c:pt>
                <c:pt idx="10">
                  <c:v>9.8699999999999992</c:v>
                </c:pt>
                <c:pt idx="11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1E3C-4E65-AA02-AE212617BB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A2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137"/>
                </a:solidFill>
                <a:latin typeface="Arial"/>
              </a:rPr>
              <a:t>Top Labour Participation States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Labour Participation Rate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Tripura</c:v>
                </c:pt>
                <c:pt idx="1">
                  <c:v>Meghalaya</c:v>
                </c:pt>
                <c:pt idx="2">
                  <c:v>Telangana</c:v>
                </c:pt>
                <c:pt idx="3">
                  <c:v>Gujarat</c:v>
                </c:pt>
                <c:pt idx="4">
                  <c:v>Sikkim</c:v>
                </c:pt>
                <c:pt idx="5">
                  <c:v>West Bengal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61.82</c:v>
                </c:pt>
                <c:pt idx="1">
                  <c:v>57.08</c:v>
                </c:pt>
                <c:pt idx="2">
                  <c:v>53</c:v>
                </c:pt>
                <c:pt idx="3">
                  <c:v>46.1</c:v>
                </c:pt>
                <c:pt idx="4">
                  <c:v>46.07</c:v>
                </c:pt>
                <c:pt idx="5">
                  <c:v>45.42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9-4B0B-BCDC-488F2995EE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137"/>
                </a:solidFill>
                <a:latin typeface="Arial"/>
              </a:rPr>
              <a:t>Urban vs Rural Unemployment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E3-434E-836F-CB5A2D70F6F8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E3-434E-836F-CB5A2D70F6F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1E3-434E-836F-CB5A2D70F6F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GH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1E3-434E-836F-CB5A2D70F6F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Urban Unemployed</c:v>
                </c:pt>
                <c:pt idx="1">
                  <c:v>Rural Unemployed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13.17</c:v>
                </c:pt>
                <c:pt idx="1">
                  <c:v>10.32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E3-434E-836F-CB5A2D70F6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993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7040880" y="1371600"/>
            <a:ext cx="192024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7040880" y="13716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24.9%</a:t>
            </a:r>
            <a:endParaRPr lang="en-US" sz="2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</a:rPr>
              <a:t>Peak Unemp. Rate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040880" y="2834640"/>
            <a:ext cx="1920240" cy="1097280"/>
          </a:xfrm>
          <a:prstGeom prst="rect">
            <a:avLst/>
          </a:prstGeom>
          <a:solidFill>
            <a:srgbClr val="13223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7040880" y="28346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28 States</a:t>
            </a:r>
            <a:endParaRPr lang="en-US" sz="2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Covered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"/>
            <a:ext cx="621792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DATA SCIENCE           INTERNSHIP</a:t>
            </a: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in India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&amp; Regional Analysis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457200" y="2560319"/>
            <a:ext cx="6217920" cy="10058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CMIE – Centre for Monitoring Indian Economy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May 2019 – Jun 2020  |  Coverage: 28 States &amp; Uts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BY: PETER OKOMESI      STUDENT ID: CA/DF1/69331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Internship Data Science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</a:rPr>
              <a:t>Project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713232" y="104241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713232" y="1042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96926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Quantify COVID-19 Impact: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2070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Measure how India's national lockdown (Mar–Jun 2020) spiked unemployment rates across states and sectors.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627632"/>
            <a:ext cx="822960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713232" y="175564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713232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6824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Regional Disparities: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9202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Identify which states suffered the highest and lowest unemployment, revealing structural economic vulnerabilities.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34086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6" name="Shape 14"/>
          <p:cNvSpPr/>
          <p:nvPr/>
        </p:nvSpPr>
        <p:spPr>
          <a:xfrm>
            <a:off x="713232" y="246888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713232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9572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Trend &amp; Seasonal Patterns: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6334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Analyse month-by-month trends and seasonal fluctuations in employment pre- and post-lockdown.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054096"/>
            <a:ext cx="822960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1" name="Shape 19"/>
          <p:cNvSpPr/>
          <p:nvPr/>
        </p:nvSpPr>
        <p:spPr>
          <a:xfrm>
            <a:off x="713232" y="318211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713232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1089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Labour Participation Insight: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3467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Examine labour force participation rates alongside unemployment for a complete employment picture.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76732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6" name="Shape 24"/>
          <p:cNvSpPr/>
          <p:nvPr/>
        </p:nvSpPr>
        <p:spPr>
          <a:xfrm>
            <a:off x="713232" y="389534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5"/>
          <p:cNvSpPr/>
          <p:nvPr/>
        </p:nvSpPr>
        <p:spPr>
          <a:xfrm>
            <a:off x="713232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82219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Policy Recommendations: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059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Derive actionable insights to support targeted economic recovery and workforce policy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Source: CMIE (Centre for Monitoring Indian Economy) — unemploymentinindia.cmie.com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828800" cy="10515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768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Records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1828800" cy="10515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9" name="Text 7"/>
          <p:cNvSpPr/>
          <p:nvPr/>
        </p:nvSpPr>
        <p:spPr>
          <a:xfrm>
            <a:off x="2514600" y="16002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740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Clean Records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1828800" cy="10515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28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States &amp; UTs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629400" y="1600200"/>
            <a:ext cx="1828800" cy="10515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3" name="Text 11"/>
          <p:cNvSpPr/>
          <p:nvPr/>
        </p:nvSpPr>
        <p:spPr>
          <a:xfrm>
            <a:off x="6629400" y="16002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14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Months Covered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Dataset Columns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State or Union Territory in India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Month-end observation date (May 2019 – Jun 2020)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Frequency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Monthly measurement frequency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Estimated Unemployment Rate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% of labour force that is unemployed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Estimated Employed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Number of people currently employed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Estimated Labour Participation Rate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% of eligible population actively in the labour force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Rural or Urban classification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</a:rPr>
              <a:t>Data Cleaning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789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Missing Value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Identified 28 rows with null values across all columns. Rows corresponded to unnamed/aggregated records without state identifiers.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548640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4800600" y="100584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0789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Row Removal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0" y="135331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Dropped 28 incomplete rows, retaining 740 clean records (96.4% data retention). No imputation was applied to preserve statistical integrity.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548640" cy="109728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Column Standardisation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5877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Stripped leading/trailing whitespace from all column names and string fields. Renamed for consistency.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54864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Text 19"/>
          <p:cNvSpPr/>
          <p:nvPr/>
        </p:nvSpPr>
        <p:spPr>
          <a:xfrm>
            <a:off x="4800600" y="224028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Date Parsing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0" y="25877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Converted 'Date' column from string (DD-MM-YYYY) to proper datetime format, enabling chronological sorting and time-series analysis.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54864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6" name="Text 24"/>
          <p:cNvSpPr/>
          <p:nvPr/>
        </p:nvSpPr>
        <p:spPr>
          <a:xfrm>
            <a:off x="365760" y="34747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35478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Data Type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38221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Confirmed Unemployment Rate, Employed, and Labour Participation as float64. Region, Date, Frequency, Area as string/datetime.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548640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1" name="Text 29"/>
          <p:cNvSpPr/>
          <p:nvPr/>
        </p:nvSpPr>
        <p:spPr>
          <a:xfrm>
            <a:off x="4800600" y="34747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5478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Duplicate Check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40680" y="38221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Verified no duplicate Region-Date-Area combinations existed in the cleaned dataset.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</a:rPr>
              <a:t>Unemployment Trend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760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960120"/>
            <a:ext cx="2651760" cy="74980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6" name="Text 3"/>
          <p:cNvSpPr/>
          <p:nvPr/>
        </p:nvSpPr>
        <p:spPr>
          <a:xfrm>
            <a:off x="6309360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9.5%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Pre-COVID Baseline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(May 2019 – Feb 2020)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309360" y="1801368"/>
            <a:ext cx="2651760" cy="749808"/>
          </a:xfrm>
          <a:prstGeom prst="rect">
            <a:avLst/>
          </a:prstGeom>
          <a:solidFill>
            <a:srgbClr val="EF444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8" name="Text 5"/>
          <p:cNvSpPr/>
          <p:nvPr/>
        </p:nvSpPr>
        <p:spPr>
          <a:xfrm>
            <a:off x="6309360" y="180136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24.9%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Peak Unemployment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(May 2020)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09360" y="2642616"/>
            <a:ext cx="2651760" cy="749808"/>
          </a:xfrm>
          <a:prstGeom prst="rect">
            <a:avLst/>
          </a:prstGeom>
          <a:solidFill>
            <a:srgbClr val="F9731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0" name="Text 7"/>
          <p:cNvSpPr/>
          <p:nvPr/>
        </p:nvSpPr>
        <p:spPr>
          <a:xfrm>
            <a:off x="6309360" y="264261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+162%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Surge vs Baseline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309360" y="3483864"/>
            <a:ext cx="2651760" cy="749808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2" name="Text 9"/>
          <p:cNvSpPr/>
          <p:nvPr/>
        </p:nvSpPr>
        <p:spPr>
          <a:xfrm>
            <a:off x="6309360" y="348386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11.9%</a:t>
            </a:r>
            <a:endParaRPr lang="en-US" sz="20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Recovery (Jun 2020)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6576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National Average Monthly Unemployment Rate (%)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Regional Unemployment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Lowest Unemployment States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3200400" cy="1600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Rate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Meghalaya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4.80%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Odisha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5.66%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Assam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6.43%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Uttarakhand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6.58%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Gujarat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6.66%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Karnataka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6.68%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Rural vs Urban Unemployment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669280" y="3383280"/>
          <a:ext cx="3200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</a:rPr>
              <a:t>COVID-19 Impact on Employment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COVID-19 Timeline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46304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4"/>
          <p:cNvSpPr/>
          <p:nvPr/>
        </p:nvSpPr>
        <p:spPr>
          <a:xfrm>
            <a:off x="5852160" y="1371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Jan 2020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52160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India reports first COVID-19 case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577840" y="21214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7"/>
          <p:cNvSpPr/>
          <p:nvPr/>
        </p:nvSpPr>
        <p:spPr>
          <a:xfrm>
            <a:off x="5852160" y="20299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Mar 24, 2020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5216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National lockdown announced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577840" y="2779776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3" name="Text 10"/>
          <p:cNvSpPr/>
          <p:nvPr/>
        </p:nvSpPr>
        <p:spPr>
          <a:xfrm>
            <a:off x="5852160" y="26883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Apr 2020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52160" y="29443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Unemployment jumps to 23.6%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343814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3"/>
          <p:cNvSpPr/>
          <p:nvPr/>
        </p:nvSpPr>
        <p:spPr>
          <a:xfrm>
            <a:off x="5852160" y="33467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May 2020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0" y="3602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Peak: 24.9% unemployment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409651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9" name="Text 16"/>
          <p:cNvSpPr/>
          <p:nvPr/>
        </p:nvSpPr>
        <p:spPr>
          <a:xfrm>
            <a:off x="5852160" y="40050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137"/>
                </a:solidFill>
              </a:rPr>
              <a:t>Jun 2020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2160" y="4261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Lockdown eases; rate falls to 11.9%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65760" y="384048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160020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3" name="Text 20"/>
          <p:cNvSpPr/>
          <p:nvPr/>
        </p:nvSpPr>
        <p:spPr>
          <a:xfrm>
            <a:off x="365760" y="3840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Jobs Lost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65760" y="4041648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Millions in informal sector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057400" y="384048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6" name="Shape 23"/>
          <p:cNvSpPr/>
          <p:nvPr/>
        </p:nvSpPr>
        <p:spPr>
          <a:xfrm>
            <a:off x="2057400" y="3840480"/>
            <a:ext cx="1600200" cy="2011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4"/>
          <p:cNvSpPr/>
          <p:nvPr/>
        </p:nvSpPr>
        <p:spPr>
          <a:xfrm>
            <a:off x="2057400" y="3840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Affected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057400" y="4041648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Construction, Manufacturing, Retail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749040" y="3840480"/>
            <a:ext cx="1600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30" name="Shape 27"/>
          <p:cNvSpPr/>
          <p:nvPr/>
        </p:nvSpPr>
        <p:spPr>
          <a:xfrm>
            <a:off x="3749040" y="3840480"/>
            <a:ext cx="160020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1" name="Text 28"/>
          <p:cNvSpPr/>
          <p:nvPr/>
        </p:nvSpPr>
        <p:spPr>
          <a:xfrm>
            <a:off x="3749040" y="3840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Recovery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749040" y="4041648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Partial by Jun 2020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Seasonal Trend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Key Seasonal Findings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17920" y="1371600"/>
            <a:ext cx="2743200" cy="8229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Text 5"/>
          <p:cNvSpPr/>
          <p:nvPr/>
        </p:nvSpPr>
        <p:spPr>
          <a:xfrm>
            <a:off x="6382512" y="14356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Apr–May Shock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382512" y="16916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Lockdown caused an unprecedented seasonal spike in Apr (23.6%) and May (16.7%).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2743200" cy="8229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9"/>
          <p:cNvSpPr/>
          <p:nvPr/>
        </p:nvSpPr>
        <p:spPr>
          <a:xfrm>
            <a:off x="6382512" y="23500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 Inflection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82512" y="26060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March marks the turning point where rate starts rising from baseline ~9.5%.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743200" cy="8229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2"/>
          <p:cNvSpPr/>
          <p:nvPr/>
        </p:nvSpPr>
        <p:spPr>
          <a:xfrm>
            <a:off x="6217920" y="32004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3"/>
          <p:cNvSpPr/>
          <p:nvPr/>
        </p:nvSpPr>
        <p:spPr>
          <a:xfrm>
            <a:off x="6382512" y="32644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Stable Base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82512" y="35204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Jul–Dec showed consistent rates (9.0–9.9%), suggesting stable pre-crisis seasonality.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17920" y="4114800"/>
            <a:ext cx="2743200" cy="82296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73152" cy="82296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0" name="Text 17"/>
          <p:cNvSpPr/>
          <p:nvPr/>
        </p:nvSpPr>
        <p:spPr>
          <a:xfrm>
            <a:off x="6382512" y="41788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 Pattern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82512" y="443484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Jan–Feb baseline ~9.95% indicates higher unemployment in winter months.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4480560"/>
            <a:ext cx="18288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3" name="Text 20"/>
          <p:cNvSpPr/>
          <p:nvPr/>
        </p:nvSpPr>
        <p:spPr>
          <a:xfrm>
            <a:off x="594360" y="44531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Normal (&lt;12%)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77440" y="4480560"/>
            <a:ext cx="182880" cy="1371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5" name="Text 22"/>
          <p:cNvSpPr/>
          <p:nvPr/>
        </p:nvSpPr>
        <p:spPr>
          <a:xfrm>
            <a:off x="2606040" y="44531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Elevated (12–20%)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89120" y="4480560"/>
            <a:ext cx="18288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4"/>
          <p:cNvSpPr/>
          <p:nvPr/>
        </p:nvSpPr>
        <p:spPr>
          <a:xfrm>
            <a:off x="4617720" y="44531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Critical (&gt;20%)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2137"/>
                </a:solidFill>
              </a:rPr>
              <a:t>Visualizations &amp; Dashboard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229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246120"/>
            <a:ext cx="162763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Shape 3"/>
          <p:cNvSpPr/>
          <p:nvPr/>
        </p:nvSpPr>
        <p:spPr>
          <a:xfrm>
            <a:off x="274320" y="3246120"/>
            <a:ext cx="1627632" cy="2011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Text 4"/>
          <p:cNvSpPr/>
          <p:nvPr/>
        </p:nvSpPr>
        <p:spPr>
          <a:xfrm>
            <a:off x="274320" y="324612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Avg Unemployment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274320" y="3447288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11.79%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993392" y="3246120"/>
            <a:ext cx="162763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7"/>
          <p:cNvSpPr/>
          <p:nvPr/>
        </p:nvSpPr>
        <p:spPr>
          <a:xfrm>
            <a:off x="1993392" y="3246120"/>
            <a:ext cx="1627632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8"/>
          <p:cNvSpPr/>
          <p:nvPr/>
        </p:nvSpPr>
        <p:spPr>
          <a:xfrm>
            <a:off x="1993392" y="324612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Max Rate (May 2020)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993392" y="3447288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76.74%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12464" y="3246120"/>
            <a:ext cx="162763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1"/>
          <p:cNvSpPr/>
          <p:nvPr/>
        </p:nvSpPr>
        <p:spPr>
          <a:xfrm>
            <a:off x="3712464" y="3246120"/>
            <a:ext cx="1627632" cy="2011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2"/>
          <p:cNvSpPr/>
          <p:nvPr/>
        </p:nvSpPr>
        <p:spPr>
          <a:xfrm>
            <a:off x="3712464" y="324612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Min Rate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712464" y="3447288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0.00%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31536" y="3246120"/>
            <a:ext cx="162763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9" name="Shape 15"/>
          <p:cNvSpPr/>
          <p:nvPr/>
        </p:nvSpPr>
        <p:spPr>
          <a:xfrm>
            <a:off x="5431536" y="3246120"/>
            <a:ext cx="1627632" cy="20116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0" name="Text 16"/>
          <p:cNvSpPr/>
          <p:nvPr/>
        </p:nvSpPr>
        <p:spPr>
          <a:xfrm>
            <a:off x="5431536" y="324612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Avg Labour Participation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431536" y="3447288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</a:rPr>
              <a:t>42.63%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150608" y="3246120"/>
            <a:ext cx="1627632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3" name="Shape 19"/>
          <p:cNvSpPr/>
          <p:nvPr/>
        </p:nvSpPr>
        <p:spPr>
          <a:xfrm>
            <a:off x="7150608" y="3246120"/>
            <a:ext cx="1627632" cy="20116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4" name="Text 20"/>
          <p:cNvSpPr/>
          <p:nvPr/>
        </p:nvSpPr>
        <p:spPr>
          <a:xfrm>
            <a:off x="7150608" y="324612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Std Deviation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7150608" y="3447288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</a:rPr>
              <a:t>10.72%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Max 76.74% recorded for Puducherry; represents extreme local spike during lockdown.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Lockdown Caused Catastrophic Spike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National unemployment surged from a stable ~9.5% to a peak of 24.9% in May 2020 — a 162% increase — directly triggered by India's COVID-19 lockdown.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02920" cy="1188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North &amp; East India Most Vulnerable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34416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Tripura (28.4%), Haryana (26.3%), Jharkhand (20.6%) and Bihar (18.9%) consistently showed the highest unemployment, indicating structural economic disadvantages.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02920" cy="1188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Urban Areas More Impacted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Urban unemployment averaged 13.2% vs Rural at 10.3%, reflecting that urban formal-sector jobs — especially services and retail — were more severely disrupted.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50292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Quick Partial Recovery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67004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The unemployment rate dropped sharply from 24.9% in May to 11.9% in June 2020 as lockdown restrictions eased, showing labour market resilience in the informal sector.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502920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Seasonal Baseline Stability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99592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Outside the COVID shock (Jul 2019 – Feb 2020), unemployment remained tightly clustered around 9.0–10.0%, indicating predictable pre-crisis seasonality.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60520" cy="1188720"/>
          </a:xfrm>
          <a:prstGeom prst="rect">
            <a:avLst/>
          </a:prstGeom>
          <a:solidFill>
            <a:srgbClr val="0A1A2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502920" cy="1188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703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Labour Participation Paradox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3995928"/>
            <a:ext cx="3429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States like Tripura (61.8%) and Meghalaya (57.1%) had both high participation AND high unemployment, suggesting a large but underemployed labour force.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0624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Targeted State Interventions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Priority economic stimulus for Tripura, Haryana, Jharkhand, and Bihar — the four highest-unemployment states. Employment guarantee schemes and MSME support are critical.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206240" cy="2560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4892040" y="960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Urban Safety Net Strengthening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252728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Expand social protection for urban informal workers in services, retail, and construction. Digital-first registration for benefits delivery during crisis periods.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4206240" cy="25603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Labour Participation Enhancement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 states with high participation but high unemployment (Tripura, Meghalaya), invest in vocational training and industry diversification to convert participation into productive employment.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231343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7" name="Shape 15"/>
          <p:cNvSpPr/>
          <p:nvPr/>
        </p:nvSpPr>
        <p:spPr>
          <a:xfrm>
            <a:off x="4800600" y="2313432"/>
            <a:ext cx="420624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8" name="Text 16"/>
          <p:cNvSpPr/>
          <p:nvPr/>
        </p:nvSpPr>
        <p:spPr>
          <a:xfrm>
            <a:off x="4892040" y="2313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Rural Employment Buffers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Strengthen MGNREGS (rural job guarantee) as an automatic economic stabiliser. During urban lockdowns, rural labour markets absorbed returning migrants but needed more support.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1" name="Shape 19"/>
          <p:cNvSpPr/>
          <p:nvPr/>
        </p:nvSpPr>
        <p:spPr>
          <a:xfrm>
            <a:off x="365760" y="3666744"/>
            <a:ext cx="4206240" cy="2560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457200" y="3666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 Labour Market Monitoring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Invest in continuous CMIE-grade data collection at district level for faster policy response. Monthly state-level data enabled this analysis; weekly data would enable earlier intervention.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3666744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5" name="Shape 23"/>
          <p:cNvSpPr/>
          <p:nvPr/>
        </p:nvSpPr>
        <p:spPr>
          <a:xfrm>
            <a:off x="4800600" y="3666744"/>
            <a:ext cx="4206240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6" name="Text 24"/>
          <p:cNvSpPr/>
          <p:nvPr/>
        </p:nvSpPr>
        <p:spPr>
          <a:xfrm>
            <a:off x="4892040" y="3666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Crisis Preparedness Framework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959352"/>
            <a:ext cx="39776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Develop pre-approved crisis employment protocols — including immediate cash transfer triggers and sector-specific relief — to reduce response lag in future shocks.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A2E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6766560" y="731520"/>
            <a:ext cx="21945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6766560" y="731520"/>
            <a:ext cx="219456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6766560" y="9601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740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Clean Data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Records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766560" y="2148840"/>
            <a:ext cx="21945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8" name="Shape 6"/>
          <p:cNvSpPr/>
          <p:nvPr/>
        </p:nvSpPr>
        <p:spPr>
          <a:xfrm>
            <a:off x="6766560" y="2148840"/>
            <a:ext cx="2194560" cy="1828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162%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Unemployment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Surge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766560" y="3566160"/>
            <a:ext cx="21945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6766560" y="3566160"/>
            <a:ext cx="2194560" cy="182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6766560" y="37947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28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States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Analysed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1170432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5" name="Text 13"/>
          <p:cNvSpPr/>
          <p:nvPr/>
        </p:nvSpPr>
        <p:spPr>
          <a:xfrm>
            <a:off x="777240" y="100584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COVID-19's lockdown was a historic shock to India's labour market, raising unemployment from a stable ~9.5% baseline to 24.9% in one of the fastest labour-market deteriorations on record.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956816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777240" y="179222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The impact was not uniform: northern and eastern states suffered structurally, while southern states (Karnataka, Gujarat, Andhra Pradesh) showed greater resilience due to diversified economies.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9" name="Text 17"/>
          <p:cNvSpPr/>
          <p:nvPr/>
        </p:nvSpPr>
        <p:spPr>
          <a:xfrm>
            <a:off x="777240" y="257860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Urban workers faced greater volatility than rural workers, though both were significantly affected. Rural India's informal sector served as a partial buffer during the lockdown months.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Text 19"/>
          <p:cNvSpPr/>
          <p:nvPr/>
        </p:nvSpPr>
        <p:spPr>
          <a:xfrm>
            <a:off x="777240" y="336499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The swift partial recovery by June 2020 (11.9%) demonstrates the inherent resilience of India's large informal economy, but also underscores the need for formal safety nets.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3" name="Text 21"/>
          <p:cNvSpPr/>
          <p:nvPr/>
        </p:nvSpPr>
        <p:spPr>
          <a:xfrm>
            <a:off x="777240" y="4151376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This analysis demonstrates the power of data-driven policy insights — structured EDA of CMIE's monthly data can inform targeted, timely government interventions in future crises.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28032"/>
            <a:ext cx="5943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Dataset: CMIE — unemploymentinindia.cmie.com  |  Period: May 2019 – Jun 2020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1234</Words>
  <Application>Microsoft Office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Unemployment in India – COVID-19 Impact Analysis</dc:title>
  <dc:subject>PptxGenJS Presentation</dc:subject>
  <dc:creator>Data Science Team</dc:creator>
  <cp:lastModifiedBy>USER</cp:lastModifiedBy>
  <cp:revision>2</cp:revision>
  <dcterms:created xsi:type="dcterms:W3CDTF">2026-06-07T17:42:22Z</dcterms:created>
  <dcterms:modified xsi:type="dcterms:W3CDTF">2026-06-08T00:56:46Z</dcterms:modified>
</cp:coreProperties>
</file>